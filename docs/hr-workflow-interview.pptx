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7fb38c8cc4eee" /><Relationship Type="http://schemas.openxmlformats.org/officeDocument/2006/relationships/extended-properties" Target="/docProps/app.xml" Id="Re314747430264e57" /><Relationship Type="http://schemas.openxmlformats.org/officeDocument/2006/relationships/officeDocument" Target="/ppt/presentation.xml" Id="R148b0bc1341247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23472cbe3b43ee"/>
  </p:sldMasterIdLst>
  <p:notesMasterIdLst>
    <p:notesMasterId xmlns:r="http://schemas.openxmlformats.org/officeDocument/2006/relationships" r:id="R2798ff1df6824b81"/>
  </p:notesMasterIdLst>
  <p:sldIdLst>
    <p:sldId xmlns:r="http://schemas.openxmlformats.org/officeDocument/2006/relationships" id="256" r:id="R962792ae518541f6"/>
    <p:sldId xmlns:r="http://schemas.openxmlformats.org/officeDocument/2006/relationships" id="257" r:id="R1003e708a4c94a6f"/>
    <p:sldId xmlns:r="http://schemas.openxmlformats.org/officeDocument/2006/relationships" id="258" r:id="R4867ba4149ca4733"/>
    <p:sldId xmlns:r="http://schemas.openxmlformats.org/officeDocument/2006/relationships" id="259" r:id="R6e508ac418a84fce"/>
    <p:sldId xmlns:r="http://schemas.openxmlformats.org/officeDocument/2006/relationships" id="260" r:id="R5f72e8097951494e"/>
    <p:sldId xmlns:r="http://schemas.openxmlformats.org/officeDocument/2006/relationships" id="261" r:id="R6a021023c00d4eaa"/>
    <p:sldId xmlns:r="http://schemas.openxmlformats.org/officeDocument/2006/relationships" id="262" r:id="Ra21dbf11a10a4e75"/>
    <p:sldId xmlns:r="http://schemas.openxmlformats.org/officeDocument/2006/relationships" id="263" r:id="R7e4fc22cf2c84a59"/>
    <p:sldId xmlns:r="http://schemas.openxmlformats.org/officeDocument/2006/relationships" id="264" r:id="R3fde88f6f9ea48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6a05ae09834668" /><Relationship Type="http://schemas.openxmlformats.org/officeDocument/2006/relationships/slideMaster" Target="/ppt/slideMasters/slideMaster1.xml" Id="R2e23472cbe3b43ee" /><Relationship Type="http://schemas.openxmlformats.org/officeDocument/2006/relationships/notesMaster" Target="/ppt/notesMasters/notesMaster1.xml" Id="R2798ff1df6824b81" /><Relationship Type="http://schemas.openxmlformats.org/officeDocument/2006/relationships/presProps" Target="/ppt/presProps.xml" Id="Ra4c5ab874f29458e" /><Relationship Type="http://schemas.openxmlformats.org/officeDocument/2006/relationships/tableStyles" Target="/ppt/tableStyles.xml" Id="R9d604fbfd7c3426b" /><Relationship Type="http://schemas.openxmlformats.org/officeDocument/2006/relationships/slide" Target="/ppt/slides/slide1.xml" Id="R962792ae518541f6" /><Relationship Type="http://schemas.openxmlformats.org/officeDocument/2006/relationships/slide" Target="/ppt/slides/slide2.xml" Id="R1003e708a4c94a6f" /><Relationship Type="http://schemas.openxmlformats.org/officeDocument/2006/relationships/slide" Target="/ppt/slides/slide3.xml" Id="R4867ba4149ca4733" /><Relationship Type="http://schemas.openxmlformats.org/officeDocument/2006/relationships/slide" Target="/ppt/slides/slide4.xml" Id="R6e508ac418a84fce" /><Relationship Type="http://schemas.openxmlformats.org/officeDocument/2006/relationships/slide" Target="/ppt/slides/slide5.xml" Id="R5f72e8097951494e" /><Relationship Type="http://schemas.openxmlformats.org/officeDocument/2006/relationships/slide" Target="/ppt/slides/slide6.xml" Id="R6a021023c00d4eaa" /><Relationship Type="http://schemas.openxmlformats.org/officeDocument/2006/relationships/slide" Target="/ppt/slides/slide7.xml" Id="Ra21dbf11a10a4e75" /><Relationship Type="http://schemas.openxmlformats.org/officeDocument/2006/relationships/slide" Target="/ppt/slides/slide8.xml" Id="R7e4fc22cf2c84a59" /><Relationship Type="http://schemas.openxmlformats.org/officeDocument/2006/relationships/slide" Target="/ppt/slides/slide9.xml" Id="R3fde88f6f9ea48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a96fd0c44043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9cc4bfc0ec4b94" /><Relationship Type="http://schemas.openxmlformats.org/officeDocument/2006/relationships/notesMaster" Target="/ppt/notesMasters/notesMaster1.xml" Id="Re94da9a287c34f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9d1cb87ed14ce9" /><Relationship Type="http://schemas.openxmlformats.org/officeDocument/2006/relationships/notesMaster" Target="/ppt/notesMasters/notesMaster1.xml" Id="Re0f3a4214c3d49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b09eb7457b4d0b" /><Relationship Type="http://schemas.openxmlformats.org/officeDocument/2006/relationships/notesMaster" Target="/ppt/notesMasters/notesMaster1.xml" Id="Rda270b165d0345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efa7d1a88e43ef" /><Relationship Type="http://schemas.openxmlformats.org/officeDocument/2006/relationships/notesMaster" Target="/ppt/notesMasters/notesMaster1.xml" Id="Rdf6b813d4ef84b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59898f7bf043fe" /><Relationship Type="http://schemas.openxmlformats.org/officeDocument/2006/relationships/notesMaster" Target="/ppt/notesMasters/notesMaster1.xml" Id="R32708d5e23b247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66e91dfec841a4" /><Relationship Type="http://schemas.openxmlformats.org/officeDocument/2006/relationships/notesMaster" Target="/ppt/notesMasters/notesMaster1.xml" Id="R175366aeed0342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fb892cb03848ae" /><Relationship Type="http://schemas.openxmlformats.org/officeDocument/2006/relationships/notesMaster" Target="/ppt/notesMasters/notesMaster1.xml" Id="R9f35e2b270d245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f190ef8aec4a5d" /><Relationship Type="http://schemas.openxmlformats.org/officeDocument/2006/relationships/notesMaster" Target="/ppt/notesMasters/notesMaster1.xml" Id="Rdc313c04466b4c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4a0d8b8eb7436e" /><Relationship Type="http://schemas.openxmlformats.org/officeDocument/2006/relationships/notesMaster" Target="/ppt/notesMasters/notesMaster1.xml" Id="R556283f449d845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建议讲法：</a:t>
            </a:r>
          </a:p>
          <a:p xmlns:a="http://schemas.openxmlformats.org/drawingml/2006/main">
            <a:r>
              <a:t>今天用一个已经实际跑过多轮的岗位，把目前从 JD 到候选收藏的流程完整走一遍。我们会展示系统现在怎么理解岗位、怎么生成搜索词、怎么阅读候选经历，以及最后怎么形成排序和收藏名单。今天最重要的结果，是确认这套流程与大家平常使用 BOSS 的方式有哪些一致、哪些不一致。后续产品怎么调整，会以今天沉淀的真实习惯为依据。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主讲者提示，不展示：</a:t>
            </a:r>
          </a:p>
          <a:p xmlns:a="http://schemas.openxmlformats.org/drawingml/2006/main">
            <a:r>
              <a:t>不介绍代码、模型版本、授权 ID 或安装方式。观察参会 HR 更关注搜索是否像平常做的，还是候选判断是否可信。如果有人立即开始讲自己的使用方法，不要打断，在对应流程节点回收。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来源：meeting-script.md；sanitized-materials.md。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建议讲法：</a:t>
            </a:r>
          </a:p>
          <a:p xmlns:a="http://schemas.openxmlformats.org/drawingml/2006/main">
            <a:r>
              <a:t>这是项目当前假设的一条完整工作链。每一步的结果都会保存下来，所以同一个候选不会因为重复出现在多个搜索词里就反复处理，已经有简历或评分的候选也可以复用。这条链不意味着 HR 必须严格从第一步走到最后一步。后面的案例用于找到实际会来回调整的环节，以及哪些步骤应该让系统隐藏起来。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主讲者提示，不展示：</a:t>
            </a:r>
          </a:p>
          <a:p xmlns:a="http://schemas.openxmlformats.org/drawingml/2006/main">
            <a:r>
              <a:t>留意 HR 是否会在看到候选后返回修改搜索词或岗位要求。捕捉是否存在先搜人再修 JD，或先看推荐再决定关键词的循环。记录真实顺序、经常回退的节点、希望自动完成的步骤和必须本人判断的步骤。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来源：sanitized-materials.md 第一部分。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建议讲法：</a:t>
            </a:r>
          </a:p>
          <a:p xmlns:a="http://schemas.openxmlformats.org/drawingml/2006/main">
            <a:r>
              <a:t>这里先看原始 JD，不急着讲模型或分数。这个岗位要求建立汽配核心商家池，直接拓展目标商家，同时负责平台策略、商家质量和经营结果。当前流程先把这些职责读成岗位真正要完成的事情，再进入评分卡。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主讲者提示，不展示：</a:t>
            </a:r>
          </a:p>
          <a:p xmlns:a="http://schemas.openxmlformats.org/drawingml/2006/main">
            <a:r>
              <a:t>观察 HR 平常拿到 JD 时先看什么，是行业、公司背景、资源、职级，还是硬性条件。留意哪些要求 HR 会直接用于搜索，哪些只会留到看简历或沟通时判断。不要逐条询问，让讨论跟着这份 JD 自然发生。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来源：sanitized-materials.md 第二部分。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建议讲法：</a:t>
            </a:r>
          </a:p>
          <a:p xmlns:a="http://schemas.openxmlformats.org/drawingml/2006/main">
            <a:r>
              <a:t>上一页读出的岗位重点，在这里落成五项评分。汽配商家资源权重最高，因为这个岗位首先要把目标商家带进来。从零搭建和数据管理各占二十分，分别对应业务能否搭起来，以及商家池能否长期管好。策略谈判和汽配专业度各占十五分。打分只看简历里能核对的经历，没有写到的内容会留作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主讲者提示，不展示：</a:t>
            </a:r>
          </a:p>
          <a:p xmlns:a="http://schemas.openxmlformats.org/drawingml/2006/main">
            <a:r>
              <a:t>观察 HR 看这张卡时会先关注哪一项，以及哪些条件即使权重不高也会影响是否继续看简历。如果有分歧，先记录真实判断顺序，不在这一页讨论抽象的最优权重，留到候选对比时验证。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来源：sanitized-materials.md 第三部分。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建议讲法：</a:t>
            </a:r>
          </a:p>
          <a:p xmlns:a="http://schemas.openxmlformats.org/drawingml/2006/main">
            <a:r>
              <a:t>搜索词的通用方法是一句话：围绕岗位最重要的行业场景、目标人群和核心动作，组合几组不同切口。对这个岗位，产业带、品牌商、跨境平台和车型适配分别代表不同的找人入口。它们共同围绕汽配招商，但尽量减少完全重复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主讲者提示，不展示：</a:t>
            </a:r>
          </a:p>
          <a:p xmlns:a="http://schemas.openxmlformats.org/drawingml/2006/main">
            <a:r>
              <a:t>不展开其余 7 组，避免变成关键词评审。留意 HR 的常用起手词，以及是否习惯搜公司名、职位名、产业带、品类或竞品平台。如果某个词不自然，请对方说平常会输入的原始词。记录换词、翻页和停止的实际时机。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来源：sanitized-materials.md 第四部分。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建议讲法：</a:t>
            </a:r>
          </a:p>
          <a:p xmlns:a="http://schemas.openxmlformats.org/drawingml/2006/main">
            <a:r>
              <a:t>列表页会出现大量重复候选，所以页面行数不等于新增人数。最近一轮读了五页，看到七十五行，合并以后得到四十九名新候选。详情和评分全部完成以后，有六人在六十分以上。六十分只是帮助观察分布的区间，不是系统设置的通过线。真正的交付来自完整排名池和 HR 的人工判断。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主讲者提示，不展示：</a:t>
            </a:r>
          </a:p>
          <a:p xmlns:a="http://schemas.openxmlformats.org/drawingml/2006/main">
            <a:r>
              <a:t>观察 HR 对一次出现 49 名新候选的反应。捕捉平常一天实际看多少页、多少份简历、每份停留多久。了解看到多少合适的人就停止，是否比固定看多少人更符合实际。记录每天工作节奏、单次可消化量、批次大小和结束一轮的信号。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来源：sanitized-materials.md 第五部分。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 分钟，至少保留 2–3 分钟讨论。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建议讲法：</a:t>
            </a:r>
          </a:p>
          <a:p xmlns:a="http://schemas.openxmlformats.org/drawingml/2006/main">
            <a:r>
              <a:t>这两个人都带有汽车和招商经历，单看职位名称都可能值得点开。把五项得分摆在一起，差距主要来自商家资源、汽配专业度和数据管理。候选 A 的经历直接覆盖汽配平台、经销商网络和跨境交付。候选 B 的招商和渠道经验成立，但简历没有提供跨境汽配供给的直接证据。底部保留了脱敏后的简历原文，现场可以直接核对这些分数是否符合大家的判断。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主讲者提示，不展示：</a:t>
            </a:r>
          </a:p>
          <a:p xmlns:a="http://schemas.openxmlformats.org/drawingml/2006/main">
            <a:r>
              <a:t>先让 HR 看分数和原文，说出会先打开谁、还会不会继续看 B，以及哪些分数想改。不要逐条追问评分规则。根据现场反应记录真正影响判断的信号，包括公司背景、招商规模、资源名单、平台经历、团队规模、稳定性和简历信息不足是否值得沟通。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来源：sanitized-materials.md 第六部分。候选信息已脱敏。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建议讲法：</a:t>
            </a:r>
          </a:p>
          <a:p xmlns:a="http://schemas.openxmlformats.org/drawingml/2006/main">
            <a:r>
              <a:t>这个流程更适合用每次执行能完成什么来描述，而不是承诺每天固定看多少人。以当前岗位为例，一次五页运行通常新增约五十名候选并完成评分。重复率会显著影响新增量。最终不会把所有高分候选直接收藏，而是先排除已经收藏的人，再冻结最多五名，由 HR 做最后确认。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主讲者提示，不展示：</a:t>
            </a:r>
          </a:p>
          <a:p xmlns:a="http://schemas.openxmlformats.org/drawingml/2006/main">
            <a:r>
              <a:t>捕捉收藏在不同 HR 心中的含义，是值得联系、待业务复核、暂存、建立人才库，还是已经认可。了解更希望收到每日 Top 5、每次新增 Top 5、完整候选池，还是按岗位紧急程度决定数量。记录交付频率、Top N、收藏定义、人工确认方式和低优先级候选的保留方式。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来源：sanitized-materials.md 第七部分。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建议讲法：</a:t>
            </a:r>
          </a:p>
          <a:p xmlns:a="http://schemas.openxmlformats.org/drawingml/2006/main">
            <a:r>
              <a:t>今天用一个具体岗位把当前流程走完了。会后会把大家实际使用 BOSS 的顺序、搜索方法、筛选重点、每天节奏和收藏含义整理成统一记录。下一步不会直接把所有意见做成功能，而是先确认哪些属于多数人的稳定习惯，哪些是岗位类型或个人工作方式造成的差异。后续优先解决会明显影响候选质量或增加 HR 重复劳动的问题。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主讲者提示，不展示：</a:t>
            </a:r>
          </a:p>
          <a:p xmlns:a="http://schemas.openxmlformats.org/drawingml/2006/main">
            <a:r>
              <a:t>用 30–45 秒复述现场已经形成共识的 3–5 条习惯。将分歧明确标成岗位差异或待继续验证，不要现场强行统一。会后记录至少覆盖流程顺序、搜索习惯、筛选信号、阅读节奏、收藏含义和期望交付。如果时间不足，直接收口。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来源：meeting-script.md 会后记录模板。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fb6e5451f4f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182137af0145da" /><Relationship Type="http://schemas.openxmlformats.org/officeDocument/2006/relationships/slideLayout" Target="/ppt/slideLayouts/slideLayout1.xml" Id="R5534f02498e84d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34f02498e84d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fa03ad0614c51" /><Relationship Type="http://schemas.openxmlformats.org/officeDocument/2006/relationships/notesSlide" Target="/ppt/notesSlides/notesSlide1.xml" Id="R66349ba9cfc64d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4ef13898141f6" /><Relationship Type="http://schemas.openxmlformats.org/officeDocument/2006/relationships/notesSlide" Target="/ppt/notesSlides/notesSlide2.xml" Id="Rfe60ae3e001a46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138d2f5be4723" /><Relationship Type="http://schemas.openxmlformats.org/officeDocument/2006/relationships/notesSlide" Target="/ppt/notesSlides/notesSlide3.xml" Id="Ra6f3d3e3952440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67a16d809494d" /><Relationship Type="http://schemas.openxmlformats.org/officeDocument/2006/relationships/notesSlide" Target="/ppt/notesSlides/notesSlide4.xml" Id="R1644d618a6ed43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9d8fb76ab488a" /><Relationship Type="http://schemas.openxmlformats.org/officeDocument/2006/relationships/notesSlide" Target="/ppt/notesSlides/notesSlide5.xml" Id="R3e8c1cb52bd64c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b7d0c31b340df" /><Relationship Type="http://schemas.openxmlformats.org/officeDocument/2006/relationships/chart" Target="/ppt/slides/charts/chart1.xml" Id="R8150c303a6d74205" /><Relationship Type="http://schemas.openxmlformats.org/officeDocument/2006/relationships/notesSlide" Target="/ppt/notesSlides/notesSlide6.xml" Id="R7f931c65664947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71903a8b64ce8" /><Relationship Type="http://schemas.openxmlformats.org/officeDocument/2006/relationships/notesSlide" Target="/ppt/notesSlides/notesSlide7.xml" Id="R173b684e371c4c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6bb3d2d1841f1" /><Relationship Type="http://schemas.openxmlformats.org/officeDocument/2006/relationships/chart" Target="/ppt/slides/charts/chart2.xml" Id="Re781fd89db8d4ffa" /><Relationship Type="http://schemas.openxmlformats.org/officeDocument/2006/relationships/notesSlide" Target="/ppt/notesSlides/notesSlide8.xml" Id="R3ae4febfd80c4c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4b77f9f7d4195" /><Relationship Type="http://schemas.openxmlformats.org/officeDocument/2006/relationships/notesSlide" Target="/ppt/notesSlides/notesSlide9.xml" Id="R612911e6c415469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候选人数</c:v>
          </c:tx>
          <c:spPr>
            <a:solidFill xmlns:a="http://schemas.openxmlformats.org/drawingml/2006/main">
              <a:srgbClr val="00A6A6"/>
            </a:solidFill>
          </c:spPr>
          <c:cat>
            <c:strRef>
              <c:f>'Chart Data'!$A$2:$A$5</c:f>
              <c:strCache>
                <c:ptCount val="4"/>
                <c:pt idx="0">
                  <c:v>低于 20</c:v>
                </c:pt>
                <c:pt idx="1">
                  <c:v>20–40</c:v>
                </c:pt>
                <c:pt idx="2">
                  <c:v>40–60</c:v>
                </c:pt>
                <c:pt idx="3">
                  <c:v>60 及以上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13</c:v>
                </c:pt>
                <c:pt idx="1">
                  <c:v>19</c:v>
                </c:pt>
                <c:pt idx="2">
                  <c:v>11</c:v>
                </c:pt>
                <c:pt idx="3">
                  <c:v>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新增候选</c:v>
          </c:tx>
          <c:spPr>
            <a:solidFill xmlns:a="http://schemas.openxmlformats.org/drawingml/2006/main">
              <a:srgbClr val="3C6EEC"/>
            </a:solidFill>
          </c:spPr>
          <c:cat>
            <c:strRef>
              <c:f>'Chart Data'!$A$2:$A$4</c:f>
              <c:strCache>
                <c:ptCount val="3"/>
                <c:pt idx="0">
                  <c:v>运行 1</c:v>
                </c:pt>
                <c:pt idx="1">
                  <c:v>运行 2</c:v>
                </c:pt>
                <c:pt idx="2">
                  <c:v>运行 3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52</c:v>
                </c:pt>
                <c:pt idx="1">
                  <c:v>47</c:v>
                </c:pt>
                <c:pt idx="2">
                  <c:v>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EF167-5D28-4D3A-82C5-B5E0C2D2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14122-D3C8-4969-B196-869CAA09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rPr>
              <a:t>HR 使用习惯访谈会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203D6-A9BC-443A-B790-EA3A20D0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14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用真实候选校准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BOSS 招聘流程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62C5B-7EF3-4086-960B-5368574E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9E8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D9E8F0"/>
                </a:solidFill>
                <a:latin typeface="Hiragino Sans GB"/>
                <a:ea typeface="Hiragino Sans GB"/>
                <a:cs typeface="Hiragino Sans GB"/>
              </a:rPr>
              <a:t>案例岗位：跨境汽配平台招商总监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F74C9-EB19-4E0A-889F-BBC792C2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FC8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AFC8D8"/>
                </a:solidFill>
                <a:latin typeface="Hiragino Sans GB"/>
                <a:ea typeface="Hiragino Sans GB"/>
                <a:cs typeface="Hiragino Sans GB"/>
              </a:rPr>
              <a:t>30 分钟内走完整流程，讨论集中在具体结果和真实工作习惯。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E5628-AD0A-453C-B364-C2C61D93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876300"/>
            <a:ext cx="2552700" cy="4476750"/>
          </a:xfrm>
          <a:prstGeom xmlns:a="http://schemas.openxmlformats.org/drawingml/2006/main" prst="roundRect">
            <a:avLst>
              <a:gd name="adj" fmla="val 9701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14288">
            <a:solidFill>
              <a:srgbClr val="31587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DAB9D-BE56-4A36-9820-D876E5EF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19062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rPr>
              <a:t>JD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DC359-2A36-4A90-978F-3B30A3A6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2382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岗位要求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B446D-4FCB-49C0-B06B-B7FECA4B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4307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7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EBB15-AE74-448A-8B29-DC02B886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7167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rPr>
              <a:t>5×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4BFC0-CADC-4EC6-B63A-BEB4F448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193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搜索路线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FB892-A664-4E42-9736-BE20BABB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2412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7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63A1F-FF8C-4E35-8F8E-DA2C39C5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75272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>
                <a:solidFill>
                  <a:srgbClr val="FFE1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FE19A"/>
                </a:solidFill>
                <a:latin typeface="Hiragino Sans GB"/>
                <a:ea typeface="Hiragino Sans GB"/>
                <a:cs typeface="Hiragino Sans GB"/>
              </a:rPr>
              <a:t>49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D7BA9-BB06-43FE-A9D3-1C60ACC9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800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有效评分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F471D-50D4-44B1-8CDF-55C82399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0517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7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B6402-D9AA-4A67-A1CB-28374422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53377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6DE69-226F-40B1-BEBC-73925C4C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5814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候选对比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B4127-0479-49BD-AE50-1577A12D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622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7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0F4A7-7EE7-48A0-86F2-60C245A4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314825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rPr>
              <a:t>≤5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F3AF2-C9AC-4372-A118-A14710FC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3624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收藏交付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2D557-6E1B-4E99-A053-F36F3700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86A5B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86A5B8"/>
                </a:solidFill>
                <a:latin typeface="Hiragino Sans GB"/>
                <a:ea typeface="Hiragino Sans GB"/>
                <a:cs typeface="Hiragino Sans GB"/>
              </a:rPr>
              <a:t>内部讨论材料 · 已脱敏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FAB3E-118A-40CF-8ACF-2D14E6F6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007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6A5B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86A5B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026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129BA3-4E0C-4426-810C-84A442DB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当前流程从 JD 一直走到 HR 确认收藏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3DF41-4525-4B45-B46F-F8412C38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每一步都保留结果，重复候选和已有评分可以直接复用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98234-2F31-4AC1-B0A0-29711629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9A587-DAEF-433A-8DCD-7BC7EE0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5984F-CD1D-4DC9-BD2F-A543E64A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333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32971-2E07-4583-8EB0-67C5D55B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1A579-EF6B-4191-9899-4F0FB995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固定岗位 JD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FB711-A196-4276-B106-0A8D7304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保存完整要求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3B74B-3BCC-4ADB-9BCC-E9978A27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333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5FF69-6485-42DC-A0ED-9EA40B9E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809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2C0E9-10DA-40E3-B000-6102DD47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52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生成评分卡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74BBB-BE1A-4051-B6D8-96DAC4D2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527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维度、权重、证据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4A937-E06E-4C5B-88BD-2D687D19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2333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617F3-5EB0-408B-88F7-DDFD4A2E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0C11E-96EF-42D6-933A-360DCD4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生成搜索路线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07900-BD05-4377-8E27-061A19FD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行业和职能组合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02BD1-C3B7-4B01-912F-72F16859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657350"/>
            <a:ext cx="2333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3BA65-5A2F-47D8-9079-E820F5BD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809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B4D6C-B37B-4494-B45A-15E64DAF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152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读取候选列表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98950-553C-4100-9B09-77355D7C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527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按计划逐页处理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F5638-8B14-4C3E-A428-222F0A70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000500"/>
            <a:ext cx="2333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31031-C657-4D91-863D-F832AF8F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52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B32CF-3A6C-43E1-9576-4082E184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495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去重并读详情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0E6C8-CB28-44E6-9648-49C8058C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8958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只补新增候选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EFEFF-074E-43A8-A199-3A0E2D08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2333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19050">
            <a:solidFill>
              <a:srgbClr val="00A6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76DA93-4BA9-4E9D-BFBA-03F7AB6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CEF6E8-7CAF-4B6B-88E4-5B873887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证据评分排序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57FC94-E0E4-4E1F-A5E7-FE8D9841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958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同一标准比较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D35CC5-3F8A-417C-9A2D-EF38DB04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2333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19050">
            <a:solidFill>
              <a:srgbClr val="00A6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3C6CA0-73B5-4E87-849A-A2600F09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152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C9C85C-8B66-4CA4-A315-EF8854EE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495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核对并冻结 Top 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297502-6439-419F-87A0-718F665D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8958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HR 最终确认</a:t>
            </a:r>
          </a:p>
        </p:txBody>
      </p:sp>
      <p:cxnSp>
        <p:nvCxnSpPr>
          <p:cNvPr id="73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81325" y="2333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B3C8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10250" y="2333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B3C8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39175" y="2333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B3C8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0301288" y="300990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B3C8"/>
            </a:solidFill>
            <a:prstDash val="solid"/>
            <a:tailEnd type="arrow" w="sm" len="sm"/>
          </a:ln>
        </p:spPr>
      </p:cxnSp>
      <p:cxnSp>
        <p:nvCxnSpPr>
          <p:cNvPr id="77" name=""/>
          <p:cNvCxnSpPr>
            <a:stCxn xmlns:a="http://schemas.openxmlformats.org/drawingml/2006/main" id="21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8639175" y="46767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B3C8"/>
            </a:solidFill>
            <a:prstDash val="solid"/>
            <a:tailEnd type="arrow" w="sm" len="sm"/>
          </a:ln>
        </p:spPr>
      </p:cxnSp>
      <p:cxnSp>
        <p:nvCxnSpPr>
          <p:cNvPr id="78" name=""/>
          <p:cNvCxnSpPr>
            <a:stCxn xmlns:a="http://schemas.openxmlformats.org/drawingml/2006/main" id="25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5810250" y="46767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B3C8"/>
            </a:solidFill>
            <a:prstDash val="solid"/>
            <a:tailEnd type="arrow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1254F2-C715-4665-B17C-B8203DB6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今天重点看：搜索是否像 HR 平常的做法，以及候选排序能否被证据解释。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2A45E6-8DA1-4D4E-B319-83D92E97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rPr>
              <a:t>跨境汽配平台招商总监 · 冻结运行结果</a:t>
            </a:r>
          </a:p>
        </p:txBody>
      </p:sp>
    </p:spTree>
    <p:extLst>
      <p:ext uri="{BB962C8B-B14F-4D97-AF65-F5344CB8AC3E}">
        <p14:creationId xmlns:p14="http://schemas.microsoft.com/office/powerpoint/2010/main" val="105860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8822BC-4ACB-4153-8FD6-CD3D223F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先从原始 JD 里看清岗位要完成什么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EF589-7BBB-4D07-801D-8E065B24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这一页先还原岗位要求，下一页再看它如何变成评分卡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690FC-0F9E-4B29-B9DD-93D19205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E64E3-560A-4F5B-BA63-FD40114A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826A8-F51C-427E-A45E-97D0DE36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5334000" cy="3943350"/>
          </a:xfrm>
          <a:prstGeom xmlns:a="http://schemas.openxmlformats.org/drawingml/2006/main" prst="roundRect">
            <a:avLst>
              <a:gd name="adj" fmla="val 4831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FBDA4-6FE9-484F-8E48-20E824E7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733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rPr>
              <a:t>原始 JD · 脱敏节选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4226C-1280-4D1E-A6A4-901C6D9F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跨境汽配平台招商总监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BC057-0037-41DA-A193-0ED88E30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上海　30–60K　本科　8 年以上相关经验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280FA-0A5D-4C16-8FAC-67F61E2A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680F4-4B82-419B-8E80-579A6F31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从 0 到 1 建立汽配核心商家池，形成稳定供给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B9626-1F31-4295-86D1-D305F7AA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D5145-421C-4B98-A503-4B8018FD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直接拓展跨境汽配大卖、工厂、品牌商和海外仓卖家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51EBB-4739-42B1-BDB4-95E5FA55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6CAB2-DABB-475A-813A-5BCE1CB8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制定平台招商策略，推动重点商家入驻并形成案例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3281E-6FF5-429A-9A1F-8234CB1A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87B56-9876-49AE-A495-F119C6D1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评估货源、SKU、车型适配、OE 号、履约和售后能力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A5FB8-BD6A-4AF5-9225-DE8B133E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606C6-ABC8-4C5F-A528-BFBBF241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291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按有效商家、动销、GMV、履约和错配率管理商家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C347B-26C5-44AF-989C-1F0A5C43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04950"/>
            <a:ext cx="5238750" cy="3943350"/>
          </a:xfrm>
          <a:prstGeom xmlns:a="http://schemas.openxmlformats.org/drawingml/2006/main" prst="roundRect">
            <a:avLst>
              <a:gd name="adj" fmla="val 48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D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6C211-6995-4042-A2D4-6D32FC33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rPr>
              <a:t>读完 JD 后得到的岗位重点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4E7A7-B59E-4EFD-88A4-77C5BEAC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3CE32-8A3F-4F9E-AB88-C74AAD77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能带来目标汽配商家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F07B3A-E76C-4B07-9E63-7C26803F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527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不只是做过招商，而是有对应商家和供给资源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D6AFB9-535D-4C6B-A801-C2D4A6A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90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2A5E6-F393-4163-95EE-9115C11F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622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能把业务从零搭起来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FB34C-F9DE-49BC-8F5F-7C0C2837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766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做过商家池、团队、流程或跨境交付链路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464155-0195-43E1-9D54-91F27C60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728E19-973C-4565-9B8A-412C08CB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861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懂平台招商怎么落地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59BB2B-6CD4-4988-B2EF-9D1A9885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005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能定策略、谈重点商家，也能推动入驻和运营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890B37-8D54-4184-BAF2-46DF36C3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240B33-BFEF-4083-823C-510C04FF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100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懂汽配，并能用数据管结果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EF9FE5-4AF8-43AD-9614-4746AE8E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244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能判断商品与履约质量，也能管理商家表现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0142B6-FCF4-4FD8-86C0-4F53172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1091565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161A78-9542-4C60-AF0A-E741299D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rPr>
              <a:t>评分卡生成策略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DF516C-F680-431A-B28B-D9C8B543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721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先看岗位最终要把什么事情做成，再把需要的经历、能力和资源拆成能从简历里核对的评分项。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7FD503-21AB-4BC9-82E7-1AE7B2C7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rPr>
              <a:t>跨境汽配平台招商总监 · 冻结运行结果</a:t>
            </a:r>
          </a:p>
        </p:txBody>
      </p:sp>
    </p:spTree>
    <p:extLst>
      <p:ext uri="{BB962C8B-B14F-4D97-AF65-F5344CB8AC3E}">
        <p14:creationId xmlns:p14="http://schemas.microsoft.com/office/powerpoint/2010/main" val="616015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393CE6-C6FA-4BC2-BC84-2967412A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岗位重点落到评分卡，每一分都对应简历证据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8583F-166D-457C-80DD-39693558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本岗位形成五项评分，权重反映每项能力对岗位结果的影响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7388B-17BD-454D-82A1-8EAB1FAF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D0F3C-1575-4580-A604-13CFF66A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D7BC4-C9F5-4141-97F2-6929BF41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汽配平台招商资源与商家拓展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CEBA8-0A01-4CE1-8E5E-EA288CD3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能否直接找到并推进目标汽配商家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40BDC-3787-476A-9B75-10F40DCA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57350"/>
            <a:ext cx="4857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C6A0C-0780-48B1-9381-20BA1B1B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57350"/>
            <a:ext cx="4857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5BFD2-A152-4A86-9755-F99BE196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002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30 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6F1CA-5EE1-4F3C-925E-77E6BCD3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从 0 到 1 搭建业务与供给体系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EC159-604D-4F3C-A0F3-2639E07A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是否真正搭过商家池、团队和业务机制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C2A30-47B8-404E-A1AD-ADBC1497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38400"/>
            <a:ext cx="4857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252AD-C419-4110-957F-0BFBF735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38400"/>
            <a:ext cx="3238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6EE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DEA74-B8B4-4C76-9A6F-F2427538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rPr>
              <a:t>20 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C3556-F298-4188-9AA0-864B62E6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平台招商策略与 KA 商务谈判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52F22-C935-4B4A-8866-ED3D2914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能否定招商打法并拿下重点商家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873C1-98C7-4391-867C-E5F50C25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19450"/>
            <a:ext cx="4857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DEC7C-D6E0-4F61-BFD3-03481894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19450"/>
            <a:ext cx="24288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4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903EE-F130-41C6-A8B5-16F5E843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F59E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9E42"/>
                </a:solidFill>
                <a:latin typeface="Hiragino Sans GB"/>
                <a:ea typeface="Hiragino Sans GB"/>
                <a:cs typeface="Hiragino Sans GB"/>
              </a:rPr>
              <a:t>15 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8AB26-D551-40C1-89FD-C167EE29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汽配行业认知与平台招商专业度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85DA1-0420-464F-86BB-8097A6DB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是否理解车型、OE、商品数据和履约难点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F8524-9413-4E52-846C-0C14B3EC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00500"/>
            <a:ext cx="4857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50ECA-55FD-4F08-A218-05338FBE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00500"/>
            <a:ext cx="24288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6C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525092-01DE-429A-9039-ACF42710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433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7656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7656C8"/>
                </a:solidFill>
                <a:latin typeface="Hiragino Sans GB"/>
                <a:ea typeface="Hiragino Sans GB"/>
                <a:cs typeface="Hiragino Sans GB"/>
              </a:rPr>
              <a:t>15 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67BC3-9E14-4C57-B813-C5604943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数据化运营与商家分层管理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2E9E8F-3EB4-4A26-B462-F1FC0596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能否用经营和质量指标持续管理商家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5D6CE5-AEAD-4342-8E80-412558DD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81550"/>
            <a:ext cx="4857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81C0C5-C7DD-4464-841A-B70BAB0F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81550"/>
            <a:ext cx="3238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13A274-A6BE-47F2-B944-A904E862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244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rPr>
              <a:t>20 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350858-158A-44CE-9169-14A49D8F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858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AAEB60-1479-4058-B38A-B3D24903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简历写到的按证据判断，没写到的留作待确认。总分只用来安排阅读顺序。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940A61-0ADE-4965-A063-9F9A120C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rPr>
              <a:t>跨境汽配平台招商总监 · 冻结运行结果</a:t>
            </a:r>
          </a:p>
        </p:txBody>
      </p:sp>
    </p:spTree>
    <p:extLst>
      <p:ext uri="{BB962C8B-B14F-4D97-AF65-F5344CB8AC3E}">
        <p14:creationId xmlns:p14="http://schemas.microsoft.com/office/powerpoint/2010/main" val="991685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7D77A4-94F4-4E02-91D6-9431EBF3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搜索词先按通用方法生成，再落到具体岗位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F62D4-BB66-45BC-BB41-F48527DD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下面是这次跨境汽配平台招商总监实际使用的五组搜索词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04A01-678C-414A-B095-D644788C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04F41-DE5B-4929-965C-B63BB0A6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50AAF-2A16-4E24-9457-A1682CE1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775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AB9C0-01E8-4558-B2D9-6CCA346F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rPr>
              <a:t>搜索词生成策略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E5E9A-5DA9-45F9-B35B-51AC4237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620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88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88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从岗位最重要的行业、目标人群和工作内容出发，换几个角度组合搜索词，尽量找到不同类型的合适人选，减少重复。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3B31B-765C-43ED-848B-2FE5F027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A04A3-6164-4AD0-9286-6C24B256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3857625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汽配  产业带  招商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93A7F-D02A-4ACC-A3D0-3B50E81D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寻找产业带供给网络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30869-8804-45E2-9B8B-4212AE41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BB88B-8FFF-4060-AE19-66531072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76575"/>
            <a:ext cx="3857625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汽配  品牌商  商家拓展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709B1-BB23-4D96-AC59-87C6212D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09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寻找品牌与核心商家拓展能力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DE56A-0413-446B-A810-47036F19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8CD36-232D-40BB-AADD-A136AF0D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3857625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汽配  跨境  平台招商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3BD7D-165F-4C7A-B52B-6C3E036B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05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同时约束汽配、跨境和平台招商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A4007-9D0A-4AB8-BC48-4958B388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B94A7-85CF-4D4A-8AFA-DDB7425B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67225"/>
            <a:ext cx="3857625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汽配  跨境  商家拓展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FAE75-4A3B-469E-A06F-0AB63487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005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侧重跨境商家资源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F5BE2-D237-40DF-A19D-6E95DAD6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E1E7F-02B3-4DC6-952C-A6FAC535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62550"/>
            <a:ext cx="3857625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57150" rIns="152400" bIns="571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汽配  车型适配  招商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91FE4B-8C78-474C-BC79-FDC1FB48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95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用专业能力区分泛招商候选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BEF128-B538-4287-9642-303738BE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2809875" cy="3314700"/>
          </a:xfrm>
          <a:prstGeom xmlns:a="http://schemas.openxmlformats.org/drawingml/2006/main" prst="roundRect">
            <a:avLst>
              <a:gd name="adj" fmla="val 7458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11430">
            <a:solidFill>
              <a:srgbClr val="B9DD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4B3B95-1C4F-4582-B731-E5866710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57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本轮搜索范围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A9BFF8-9D00-4095-9F7F-01547C83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2897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推荐来源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91D7F-4D88-44C8-B8D1-F4967568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099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rPr>
              <a:t>关闭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1E0D47-80DD-4F9C-8C6F-6E63915F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623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E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EABE0-D993-4B3A-80A0-F5CE8622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8142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页数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BF22A2-4C0E-4CD5-A0DB-C9474EAE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762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rPr>
              <a:t>每条第一页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5499A2-0C63-4F9E-95A7-C6541193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1480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E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A29D11-4977-49C2-BF00-8C533DBC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3387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活跃度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A03C95-2834-494B-BAE0-6ED0DDF8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148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rPr>
              <a:t>近一周活跃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EC3DC0-00F4-40B2-84E8-E5174E15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6672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E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7E7833-B4DC-47C5-B64A-74984016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8632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最近查看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D32C65-BF04-497B-B54E-6BED827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67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rPr>
              <a:t>排除近 14 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1F233A-423F-4A8E-920F-66CED539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本岗位共生成 12 组搜索词，本轮实际选择前 5 组。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8BEAE8-5CE3-4655-8C75-8ACF79AC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rPr>
              <a:t>跨境汽配平台招商总监 · 冻结运行结果</a:t>
            </a:r>
          </a:p>
        </p:txBody>
      </p:sp>
    </p:spTree>
    <p:extLst>
      <p:ext uri="{BB962C8B-B14F-4D97-AF65-F5344CB8AC3E}">
        <p14:creationId xmlns:p14="http://schemas.microsoft.com/office/powerpoint/2010/main" val="1826968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2BB404-F9B2-46C5-8D26-E7F5B157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五页列表最终形成 49 份有效评分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8C88F-BF1F-48D5-85D9-BEF16E8C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页面行数不等于新增候选，跨路线重复占了 26 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52158-1F24-40A2-B2D7-E9E73AC5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7DED0-E2A6-47DE-9CB7-3B13D477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548AD-EC3F-4ECE-8D53-4BC1207F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rPr>
              <a:t>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13D8A-CE1A-4219-BE77-2C55FCD8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原始候选行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52903-2FC5-4692-ACDD-3D340DEF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5 页 × 每页 15 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A1D0A-5328-4F1A-869C-30885FFF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790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0">
                <a:solidFill>
                  <a:srgbClr val="9FB3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9FB3C8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56470-917D-4A38-B860-29CBC028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5240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49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CC20F-5E4B-48A5-B6D1-B82E2789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52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唯一候选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04BF8-C9E7-4BCE-8570-A1D2C37A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95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合并 26 条重复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7DF2C-1058-4104-BFCA-2F7472C9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0">
                <a:solidFill>
                  <a:srgbClr val="9FB3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9FB3C8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5F173-A00D-4939-B950-FEAFCA07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rPr>
              <a:t>49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AD2FB-5C20-47BF-848D-43618968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详情与有效评分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6E0F5-C883-42AE-BA66-9D420A42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95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新增候选全部完成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FFB0E-1CBF-4366-9398-995B0F36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790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0">
                <a:solidFill>
                  <a:srgbClr val="9FB3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9FB3C8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E7008-C6EA-4FD0-9301-7751AD44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5240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F59E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59E42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4CD19-980E-45D6-8FE0-193B33B9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526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60 分以上参考段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EC1C2-1973-40F2-AAC0-7297EB2B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95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占本轮 12.2%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E35E4-EEC8-44DF-9626-C4E5641D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本轮评分分布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66750" y="3667125"/>
          <a:ext xmlns:a="http://schemas.openxmlformats.org/drawingml/2006/main" cx="647700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50c303a6d74205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0E2083-8047-4C16-986B-4C0B671E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90900"/>
            <a:ext cx="39052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45A0E-5664-4A5F-80E8-B3D83D67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67125"/>
            <a:ext cx="1476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87F8C"/>
                </a:solidFill>
                <a:latin typeface="Hiragino Sans GB"/>
                <a:ea typeface="Hiragino Sans GB"/>
                <a:cs typeface="Hiragino Sans GB"/>
              </a:rPr>
              <a:t>同岗位累计候选池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FCFCEE-7035-4A4E-AF11-E3AC56A0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624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313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E7167B-9417-4F13-BF43-A57E273B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33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份有效评分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0582C-F24C-45E4-8F7B-6929BB12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5300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59E4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59E42"/>
                </a:solidFill>
                <a:latin typeface="Hiragino Sans GB"/>
                <a:ea typeface="Hiragino Sans GB"/>
                <a:cs typeface="Hiragino Sans GB"/>
              </a:rPr>
              <a:t>26 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40329C-018A-4F70-98E7-4484C0BF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10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在 60 分以上参考段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7A6B3F-C3B8-4BCE-9771-75C077F1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60 分用于观察分布，不是系统设置的通过线。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891CDA-0E13-42C6-A731-BE871CDB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rPr>
              <a:t>跨境汽配平台招商总监 · 冻结运行结果</a:t>
            </a:r>
          </a:p>
        </p:txBody>
      </p:sp>
    </p:spTree>
    <p:extLst>
      <p:ext uri="{BB962C8B-B14F-4D97-AF65-F5344CB8AC3E}">
        <p14:creationId xmlns:p14="http://schemas.microsoft.com/office/powerpoint/2010/main" val="3863743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62541B3-B61D-4DA3-A9F9-5BB3B26D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同样有汽车和招商经历，岗位证据让两人的分数拉开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454AE-240B-4E04-8E1E-19A904CB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五项得分放在一起看，现场可以直接回到简历原文核对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4AC56-B17C-4EC6-A55C-A4C7704F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CA934-F392-4639-9582-8767253E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33BEF-3039-40F7-90E0-480DACD4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4382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rPr>
              <a:t>候选 A · 高优先级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743F6-A7FC-4DDB-B8BB-9993E8C9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00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250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rPr>
              <a:t>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FDC5A-821F-48CA-AF79-A97574B7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790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汽配外贸及中东市场负责人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EF3ED-6021-4A18-8203-FCDF18B4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57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rPr>
              <a:t>待确认：跨境平台经历和头部商家资源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D6081-2C85-4802-88E1-EC20D7AE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rPr>
              <a:t>候选 B · 低优先级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5DBC2-4D74-4E40-83D5-D1910D72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00175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100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rPr>
              <a:t>28.75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C64E7-1E81-4D5B-A1A8-F43D578D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汽车服务平台招商经理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36E89-BBDE-4C04-A264-2A8CD344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3667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rPr>
              <a:t>缺口：跨境汽配资源、专业品类和数据化管理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F5325-7270-4059-8D61-0CDE9E51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评分项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4C773-784E-4FF0-ABC8-821D8117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384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rPr>
              <a:t>候选 A 的证据与得分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3E66B-D886-4809-A107-A13297B2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rPr>
              <a:t>候选 B 的证据与得分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886C4-10EC-4F83-8E7F-3A370A47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商家资源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27474-188D-4407-A0B6-21EA4A95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19400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790DE-FA88-4896-A1A8-22BEB13B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19400"/>
            <a:ext cx="1464469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547609-29BB-4544-9520-55AD3FC3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62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38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rPr>
              <a:t>22.5 / 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BC27E-973F-49BF-A233-27A0D5A4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90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汽配平台、工厂和经销商网络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EFA81-6AE2-4D16-85EB-9E7E9B00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ABAC9-2856-4B39-8B88-5CE75F72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488156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6A5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55B69-A057-4D73-807F-12D49EAA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622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rPr>
              <a:t>7.5 / 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1D1111-7011-4069-8D19-8A0BAEEF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汽车经销商招商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0B301-B587-479B-BC30-DB5FA7AC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从 0 到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42C840-61A5-47E4-AD11-2956916B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05175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18AEAB-4A94-4C56-9BE0-37CB470F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05175"/>
            <a:ext cx="1464469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F23F8-EBF1-4C8C-A629-4E34178A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4802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38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rPr>
              <a:t>15 / 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6506F-CF1A-4A76-B54A-285C8D2C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766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平台、团队和跨境交付链路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8CA8F5-54C7-4026-A62E-FFC61DCE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C3DD8C-F888-40BD-BCCB-2664A742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976313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6A5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49E7D6-6234-4C8C-A75D-D677C40C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2480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rPr>
              <a:t>10 / 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65F1EF-6859-4B47-AB32-8C7D0E09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66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搭建招商流程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34CE6C-F02F-4031-9949-71D49196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策略谈判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782E9A-344B-4CF9-8968-A85B87D4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90950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82C886-B1B7-4283-962F-4E350ECF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90950"/>
            <a:ext cx="1464469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DC8DF4-B490-4CC0-BFE6-CB35CC58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338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38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rPr>
              <a:t>11.25 / 15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401BF8-94EF-482A-83E7-994AD4EB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62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类目招商、商家运营与政策谈判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8C69F0-5F7C-4364-88FF-D7AE7455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DD4756-51B5-4C0D-AD60-88BB684B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976313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6A5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D8E652-4BCF-4C16-AA24-D667AF85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7338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rPr>
              <a:t>7.5 / 15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2AE42E-73F6-490E-A718-267B5347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渠道策略与商务谈判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9B92DF-A362-4D40-9A61-AF99E0FD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汽配专业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F57EE6-37B7-4929-9D4D-0B9C304C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76725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FF077E-DD99-4DBE-BCA2-0AEBE766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76725"/>
            <a:ext cx="1464469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A82F66-2AEF-4142-910C-89244B5D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1957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38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rPr>
              <a:t>11.25 / 15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06A28C-41FD-434E-AFC2-A5602337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481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OE、VIN、底盘件与仓配系统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0E5512-3E03-4614-9D01-C26EE428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76725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9E97B1-F01A-4771-87AE-D491FEF3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76725"/>
            <a:ext cx="488156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6A5E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167420-79C0-4F4F-98F8-69B5606D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2195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rPr>
              <a:t>3.75 / 15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06F483-D175-4221-8CFC-CDCEC307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481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新能源整车相关经验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9D6DDF-A5F0-46D4-80B4-10FB18E2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数据管理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400FDA-9A85-47BC-A701-D4EDC658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62500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109D4D-7DC0-4AD2-AF4E-F7EFF760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62500"/>
            <a:ext cx="1464469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9B8D26-A015-4668-B90E-BFD8B78A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053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38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rPr>
              <a:t>15 / 20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43F78E-F755-40DB-8F27-6155861D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33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KPI、商家分析和运营复盘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4B9E2B-0BB8-4F59-82E9-E4971F36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1952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26C9C8-93AB-4597-BC10-05B700EA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0" cy="114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6A5E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517324-C504-40F3-A938-A39754A5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7053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rPr>
              <a:t>0 / 20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7CE537-56E1-4090-A48F-53D10D6F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33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简历未见直接证据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1DD20A-A9CD-4E89-991C-F6421A9A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24150"/>
            <a:ext cx="2076450" cy="233362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944DD2-3976-42BF-A6A9-C9629261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241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为什么差距明显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718041-FD18-4F27-9D96-4F9760D6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528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A 的经历直接落在汽配商家、跨境交付和供给管理上。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C54FDB-36F2-49CE-BAAB-C8BF1EFC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62425"/>
            <a:ext cx="1657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B 的招商经验成立，但更接近汽车渠道销售，缺少本岗位最重的几类证据。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25D7ED-EE76-42EE-84E9-8D22456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脱敏简历原文节选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F1C67F-95F3-44C2-ACF6-040B85C6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52863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6FAF8"/>
          </a:solidFill>
          <a:ln xmlns:a="http://schemas.openxmlformats.org/drawingml/2006/main" w="9525">
            <a:solidFill>
              <a:srgbClr val="CFE8D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E33D6C3-72DA-460B-B53C-294AFF37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rPr>
              <a:t>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59DD729-5371-446C-A87B-61D7A9CE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95950"/>
            <a:ext cx="461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“从 0 到 1 搭建中国供应链、本地仓和终端客户的跨境交付链路……”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“自建汽配 B2B 电商平台，整合工厂 OE 贴牌；自建 VIN 查询、线上下单、数字仓库和物流追踪系统。”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D24FE3-F558-4B5B-A835-62944808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572125"/>
            <a:ext cx="53244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DF8F7"/>
          </a:solidFill>
          <a:ln xmlns:a="http://schemas.openxmlformats.org/drawingml/2006/main" w="9525">
            <a:solidFill>
              <a:srgbClr val="F1D3C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74666F-A11B-4D50-B450-B14186EF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7435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66A5E"/>
                </a:solidFill>
                <a:latin typeface="Hiragino Sans GB"/>
                <a:ea typeface="Hiragino Sans GB"/>
                <a:cs typeface="Hiragino Sans GB"/>
              </a:rPr>
              <a:t>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7AB0BFF-4DAD-46D8-BDAC-53E679D9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695950"/>
            <a:ext cx="461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“建立招商流程标准化体系，带领团队进行全国 A 类经销商招商，招商近 40 家。”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63" b="0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“制定销售模式和策略，负责全国市场渠道拓展，对经销商进行培训和管理。”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F31EE55-4AE8-4E04-AD20-EB44FA29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rPr>
              <a:t>候选信息与公司名称均已脱敏 · 原文节选仅用于会议讨论</a:t>
            </a:r>
          </a:p>
        </p:txBody>
      </p:sp>
    </p:spTree>
    <p:extLst>
      <p:ext uri="{BB962C8B-B14F-4D97-AF65-F5344CB8AC3E}">
        <p14:creationId xmlns:p14="http://schemas.microsoft.com/office/powerpoint/2010/main" val="3247866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A3C9C7-E3A3-4356-8F97-629F45D1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当前更适合按单次执行能力承诺结果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E3D1B-0ADC-4557-A5CB-35C6A853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日产出取决于执行轮次、页数、重复率和合适候选供给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B8813-3C7A-48C3-B68A-70CE28C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8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00A6A6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608AF-8A1A-4980-B3DF-2F3AE9C6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F9F70-D347-4F88-BE20-0FAC2693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三次同类 5 页运行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28650" y="1962150"/>
          <a:ext xmlns:a="http://schemas.openxmlformats.org/drawingml/2006/main" cx="547687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81fd89db8d4ff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87229-7161-4416-A5E5-4059083D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577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C6EEC"/>
                </a:solidFill>
                <a:latin typeface="Hiragino Sans GB"/>
                <a:ea typeface="Hiragino Sans GB"/>
                <a:cs typeface="Hiragino Sans GB"/>
              </a:rPr>
              <a:t>平均 49.3 人 / 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AA03A-EAAB-40BE-AAA3-2BEA6157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一次 10 页运行：150 行，80 名轮内唯一候选，相对既有候选池仅新增 32 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E25BF-12D1-430A-961A-30FE0A7E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972050" cy="4591050"/>
          </a:xfrm>
          <a:prstGeom xmlns:a="http://schemas.openxmlformats.org/drawingml/2006/main" prst="roundRect">
            <a:avLst>
              <a:gd name="adj" fmla="val 4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B75E1-B3A7-4E4F-9152-D15F65DD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383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收藏交付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A1FC3-DE63-4DF6-B968-01308670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98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04B9D-13EC-49E7-97AA-EFC5D54F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90775"/>
            <a:ext cx="3476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持续补充同岗位候选池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06B34-5A0D-4B75-979B-E16D5682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每轮只处理新增或缺失评分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C6A9F-BBA1-4605-816D-3F0133AF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90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2BE0E-69AF-448B-948B-B611C9BD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3476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先核对本人已有收藏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8C97F-6CF7-4AFC-BB34-7DF17E7B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排除重复收藏候选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B77E0-F407-4AB6-BEFA-70EDD06C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719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D9AD3-46E2-4001-8E37-DDFC04CA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52875"/>
            <a:ext cx="3476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冻结未收藏排名池 Top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C90CA-5E13-4DC7-9BA4-D9CDC228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一个批次最多 5 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7B4A4-70BD-40F8-AED5-9B4F8F19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529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9D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325FB-3B06-438E-AB25-355AA37C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33925"/>
            <a:ext cx="3476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243B53"/>
                </a:solidFill>
                <a:latin typeface="Hiragino Sans GB"/>
                <a:ea typeface="Hiragino Sans GB"/>
                <a:cs typeface="Hiragino Sans GB"/>
              </a:rPr>
              <a:t>HR 查看名单后确认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FB44E6-9B3D-42C5-8287-895267A9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4825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7D98"/>
                </a:solidFill>
                <a:latin typeface="Hiragino Sans GB"/>
                <a:ea typeface="Hiragino Sans GB"/>
                <a:cs typeface="Hiragino Sans GB"/>
              </a:rPr>
              <a:t>决定收藏全部或其中一部分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72DFBF-C779-4C12-A2F6-5167C6F6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403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2D9D78"/>
                </a:solidFill>
                <a:latin typeface="Hiragino Sans GB"/>
                <a:ea typeface="Hiragino Sans GB"/>
                <a:cs typeface="Hiragino Sans GB"/>
              </a:rPr>
              <a:t>历史两个成功批次分别确认收藏 5 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929D25-2B05-42B5-9E68-3F61AC23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rPr>
              <a:t>跨境汽配平台招商总监 · 冻结运行结果</a:t>
            </a:r>
          </a:p>
        </p:txBody>
      </p:sp>
    </p:spTree>
    <p:extLst>
      <p:ext uri="{BB962C8B-B14F-4D97-AF65-F5344CB8AC3E}">
        <p14:creationId xmlns:p14="http://schemas.microsoft.com/office/powerpoint/2010/main" val="7192070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7902D-B19E-416D-B663-15CE3AF2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本次会议最终要留下什么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63454-0478-4178-92A0-75E3549C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B9D0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B9D0DE"/>
                </a:solidFill>
                <a:latin typeface="Hiragino Sans GB"/>
                <a:ea typeface="Hiragino Sans GB"/>
                <a:cs typeface="Hiragino Sans GB"/>
              </a:rPr>
              <a:t>不是一份抽象需求清单，而是一套可复用的 HR 实际工作方式。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48DC5-B0BF-41DB-9185-E96337C2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12954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31587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911EB-37A4-464A-8E6B-3EAF8647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1BBAC-3C20-417F-9BFB-7AFC1E8B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431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实际流程顺序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F4283-2266-47EB-BFB2-0D9340A2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9D0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B9D0DE"/>
                </a:solidFill>
                <a:latin typeface="Hiragino Sans GB"/>
                <a:ea typeface="Hiragino Sans GB"/>
                <a:cs typeface="Hiragino Sans GB"/>
              </a:rPr>
              <a:t>从哪里开始，何时回退，哪些步骤必须本人判断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E5D20-3547-49F7-9D4B-51E847F0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4953000" cy="12954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3158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507DF-C606-466D-B79B-DE88DCBD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53A62-9E06-4137-A6F2-7DFBA862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431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搜索与筛选习惯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DF75C-4C48-4C4A-954D-4CAA80F2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9D0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B9D0DE"/>
                </a:solidFill>
                <a:latin typeface="Hiragino Sans GB"/>
                <a:ea typeface="Hiragino Sans GB"/>
                <a:cs typeface="Hiragino Sans GB"/>
              </a:rPr>
              <a:t>起手词、换词、翻页和停止条件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3ABA7-4A26-4193-8BCB-DD98CC2F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4953000" cy="12954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3158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1D93A-2247-4AA9-9EB7-97A8BA07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0658F-558F-4AFB-8970-4F68861E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95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候选判断依据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C2AE5-A135-4096-B5E2-6C1D952B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481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9D0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B9D0DE"/>
                </a:solidFill>
                <a:latin typeface="Hiragino Sans GB"/>
                <a:ea typeface="Hiragino Sans GB"/>
                <a:cs typeface="Hiragino Sans GB"/>
              </a:rPr>
              <a:t>标题信号、简历证据、硬要求和待确认项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F22FE-925D-46DF-838F-C2B504DE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29025"/>
            <a:ext cx="4953000" cy="12954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3158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02FA9-DBAD-4571-AD50-1C0B9112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82E2D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1AE2CC-0E66-41EE-86A4-16D2C66E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195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工作节奏与交付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4BC85-6723-4728-A1C9-87586B35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481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B9D0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B9D0DE"/>
                </a:solidFill>
                <a:latin typeface="Hiragino Sans GB"/>
                <a:ea typeface="Hiragino Sans GB"/>
                <a:cs typeface="Hiragino Sans GB"/>
              </a:rPr>
              <a:t>单次可消化量、Top N、收藏含义和确认方式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5A7E2-866F-4834-810C-5CBDAC11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87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15E94-9BD8-430F-B471-39A1A597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E1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E19A"/>
                </a:solidFill>
                <a:latin typeface="Hiragino Sans GB"/>
                <a:ea typeface="Hiragino Sans GB"/>
                <a:cs typeface="Hiragino Sans GB"/>
              </a:rPr>
              <a:t>会后先区分共性习惯与岗位差异，再决定产品调整优先级。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5D100-E899-4686-81F2-E79B3F7F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150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6A5B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86A5B8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97957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2026-09-11T06:18:30.3570000Z</dcterms:created>
  <dcterms:modified xsi:type="dcterms:W3CDTF">2026-09-11T06:18:30.3570000Z</dcterms:modified>
</coreProperties>
</file>